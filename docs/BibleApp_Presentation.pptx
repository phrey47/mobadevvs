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Slab"/>
      <p:regular r:id="rId29"/>
      <p:bold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font" Target="fonts/RobotoSlab-bold.fntdata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75fc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75fc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75f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75f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75fceb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75fc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13f289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b13f289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13f2896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13f2896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b13f2896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b13f2896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b13f28967_0_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b13f2896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13f2896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b13f2896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13f2896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b13f2896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b13f2896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b13f2896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b13f2896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b13f2896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b13f2896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b13f2896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b13f2896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b13f2896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b13f2896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b13f2896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b13f28967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b13f28967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b13f28967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b13f2896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b13f28967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b13f28967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b13f28967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b13f28967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b13f28967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b13f28967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6f75fce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c6f75fce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6f75fce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c6f75fce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c6f75fc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c6f75fc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 for</a:t>
            </a:r>
            <a:br>
              <a:rPr lang="en"/>
            </a:br>
            <a:r>
              <a:rPr lang="en"/>
              <a:t>Mobile Bible App 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0" y="2924700"/>
            <a:ext cx="5783400" cy="19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report by MobaDevvs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Jairus Emmanuel Gomez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Humphrey Manango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Gabriel Jret Ouano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John Michael Sta Ana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2" type="body"/>
          </p:nvPr>
        </p:nvSpPr>
        <p:spPr>
          <a:xfrm>
            <a:off x="4893075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Requirements Documentations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Design and Implementation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Insights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Recommendations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Requirements Documentations</a:t>
            </a:r>
            <a:endParaRPr b="1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Bible App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Personal Android Bible Reading Application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is it?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native Android Bible app built with Kotlin + Jetpack Compose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Personal use — no login, no account, no internet needed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 screens: Home, Books, Reader, Search, Saved/Bookmarks, Settings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i="1" lang="en" sz="2000"/>
              <a:t>"Read, search, highlight, and save Bible verses — all offline." </a:t>
            </a:r>
            <a:r>
              <a:rPr lang="en"/>
              <a:t> 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Core Features (Functional Requirements) </a:t>
            </a:r>
            <a:endParaRPr b="1"/>
          </a:p>
        </p:txBody>
      </p:sp>
      <p:cxnSp>
        <p:nvCxnSpPr>
          <p:cNvPr id="84" name="Google Shape;84;p16"/>
          <p:cNvCxnSpPr/>
          <p:nvPr/>
        </p:nvCxnSpPr>
        <p:spPr>
          <a:xfrm>
            <a:off x="455338" y="18412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6"/>
          <p:cNvSpPr txBox="1"/>
          <p:nvPr>
            <p:ph idx="4294967295" type="body"/>
          </p:nvPr>
        </p:nvSpPr>
        <p:spPr>
          <a:xfrm>
            <a:off x="348363" y="1945730"/>
            <a:ext cx="3853200" cy="27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Read all 66 Bible books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Chapter navigation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Daily verse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Reading streak counter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Continue reading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Recent history </a:t>
            </a:r>
            <a:endParaRPr/>
          </a:p>
        </p:txBody>
      </p:sp>
      <p:cxnSp>
        <p:nvCxnSpPr>
          <p:cNvPr id="86" name="Google Shape;86;p16"/>
          <p:cNvCxnSpPr/>
          <p:nvPr/>
        </p:nvCxnSpPr>
        <p:spPr>
          <a:xfrm>
            <a:off x="5049388" y="18412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6"/>
          <p:cNvSpPr txBox="1"/>
          <p:nvPr>
            <p:ph idx="4294967295" type="body"/>
          </p:nvPr>
        </p:nvSpPr>
        <p:spPr>
          <a:xfrm>
            <a:off x="4942413" y="1945730"/>
            <a:ext cx="3853200" cy="27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Full-text search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Filter by OT / NT / Topic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Bookmark verses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Highlight in 4 colors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Add personal notes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Copy verse to clipboard </a:t>
            </a:r>
            <a:endParaRPr/>
          </a:p>
        </p:txBody>
      </p:sp>
      <p:pic>
        <p:nvPicPr>
          <p:cNvPr descr="a bible with a gold cross on it (Provided by Tenor)"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600" y="2400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 Screens</a:t>
            </a:r>
            <a:endParaRPr b="1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Home </a:t>
            </a:r>
            <a:r>
              <a:rPr lang="en"/>
              <a:t>— Daily verse, streak, quick book access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Books </a:t>
            </a:r>
            <a:r>
              <a:rPr lang="en"/>
              <a:t>— All 66 books, OT/NT tabs, search filter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Reader </a:t>
            </a:r>
            <a:r>
              <a:rPr lang="en"/>
              <a:t>— Read verses, highlight, bookmark, add notes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Search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— Full-text search with filters and history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Saved/Bookmarks</a:t>
            </a:r>
            <a:r>
              <a:rPr b="1" i="1" lang="en"/>
              <a:t> </a:t>
            </a:r>
            <a:r>
              <a:rPr lang="en"/>
              <a:t>— All bookmarks and notes in one place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Settings</a:t>
            </a:r>
            <a:r>
              <a:rPr lang="en"/>
              <a:t> — Theme, font size, translation, notifications 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Reader Features (Key Screen) </a:t>
            </a:r>
            <a:endParaRPr b="1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271550" y="1400300"/>
            <a:ext cx="4184100" cy="25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Tap any verse to select 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Highlight in Yellow / Green / Blue / Pink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Bookmark with one tap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368850" y="1327025"/>
            <a:ext cx="4503600" cy="25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Add personal notes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Copy verse text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Previous / Next chapter navigation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Switch translations: KJV, NIV, ESV, NLT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Settings &amp; Personalization </a:t>
            </a:r>
            <a:endParaRPr b="1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Theme</a:t>
            </a:r>
            <a:r>
              <a:rPr lang="en"/>
              <a:t>       →  Light  |  Dark  |  Sepia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Font Size</a:t>
            </a:r>
            <a:r>
              <a:rPr lang="en"/>
              <a:t>   →  Small  |  Medium  |  Large  |  Extra Large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Translation</a:t>
            </a:r>
            <a:r>
              <a:rPr lang="en"/>
              <a:t> →  KJV  |  NIV  |  ESV  |  NLT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Notifications</a:t>
            </a:r>
            <a:r>
              <a:rPr lang="en"/>
              <a:t> → ON / OFF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No login required</a:t>
            </a:r>
            <a:r>
              <a:rPr lang="en"/>
              <a:t> — fully personal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Stack </a:t>
            </a:r>
            <a:endParaRPr b="1"/>
          </a:p>
        </p:txBody>
      </p:sp>
      <p:cxnSp>
        <p:nvCxnSpPr>
          <p:cNvPr id="119" name="Google Shape;119;p20"/>
          <p:cNvCxnSpPr/>
          <p:nvPr/>
        </p:nvCxnSpPr>
        <p:spPr>
          <a:xfrm>
            <a:off x="825763" y="1308608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0"/>
          <p:cNvSpPr txBox="1"/>
          <p:nvPr>
            <p:ph idx="4294967295" type="body"/>
          </p:nvPr>
        </p:nvSpPr>
        <p:spPr>
          <a:xfrm>
            <a:off x="718788" y="1195205"/>
            <a:ext cx="3853200" cy="27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UI Framework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Architecture 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Navigation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Design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 Android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Test Device </a:t>
            </a:r>
            <a:endParaRPr/>
          </a:p>
        </p:txBody>
      </p:sp>
      <p:cxnSp>
        <p:nvCxnSpPr>
          <p:cNvPr id="121" name="Google Shape;121;p20"/>
          <p:cNvCxnSpPr/>
          <p:nvPr/>
        </p:nvCxnSpPr>
        <p:spPr>
          <a:xfrm>
            <a:off x="4678963" y="1308608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20"/>
          <p:cNvSpPr txBox="1"/>
          <p:nvPr>
            <p:ph idx="4294967295" type="body"/>
          </p:nvPr>
        </p:nvSpPr>
        <p:spPr>
          <a:xfrm>
            <a:off x="4571988" y="1195205"/>
            <a:ext cx="3853200" cy="27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Kotlin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Jetpack Compose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MVVM </a:t>
            </a:r>
            <a:r>
              <a:rPr lang="en"/>
              <a:t>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Navigation Compose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Material Design 3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API 21 (Android 5.0+)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Google Pixel 6 Pro </a:t>
            </a:r>
            <a:endParaRPr/>
          </a:p>
        </p:txBody>
      </p:sp>
      <p:pic>
        <p:nvPicPr>
          <p:cNvPr descr="a bible with a gold cross on it (Provided by Tenor)"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600" y="2400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Privacy &amp; Data </a:t>
            </a:r>
            <a:endParaRPr b="1"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No data collected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No internet required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No login or account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Everything stored locally on device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Personal use only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and Implementation </a:t>
            </a:r>
            <a:endParaRPr b="1"/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type="title"/>
          </p:nvPr>
        </p:nvSpPr>
        <p:spPr>
          <a:xfrm>
            <a:off x="387900" y="1764350"/>
            <a:ext cx="8368200" cy="15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and Implementation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Mobile Bible App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it was designed and how it was built 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Process </a:t>
            </a:r>
            <a:endParaRPr b="1"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How the app was designed:</a:t>
            </a:r>
            <a:endParaRPr b="1">
              <a:solidFill>
                <a:schemeClr val="accent5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1. Wireframes created first (Figma)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2. Screen Specifications written for each screen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3. Component IDs assigned to every UI element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4. Requirements documented and validated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5. Code built based on the specs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Wireframes </a:t>
            </a:r>
            <a:endParaRPr b="1"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87900" y="129094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6 screens wireframed before any code was written: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SCR-001  Home Screen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SCR-002  Search Screen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SCR-003  Books Screen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SCR-004  Reader Screen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SCR-005  Bookmarks Screen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SCR-006  Settings Screen</a:t>
            </a:r>
            <a:endParaRPr b="1">
              <a:solidFill>
                <a:schemeClr val="accent5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87900" y="2468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Wireframes (with element ID)</a:t>
            </a:r>
            <a:endParaRPr b="1"/>
          </a:p>
        </p:txBody>
      </p:sp>
      <p:pic>
        <p:nvPicPr>
          <p:cNvPr id="161" name="Google Shape;161;p25" title="home_wirefr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488" y="1180425"/>
            <a:ext cx="3458393" cy="36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 title="search_wire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205" y="1180425"/>
            <a:ext cx="3042297" cy="369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2499538" y="715725"/>
            <a:ext cx="876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5955063" y="631425"/>
            <a:ext cx="918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87900" y="2468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Wireframes (with element ID)</a:t>
            </a:r>
            <a:endParaRPr b="1"/>
          </a:p>
        </p:txBody>
      </p:sp>
      <p:sp>
        <p:nvSpPr>
          <p:cNvPr id="170" name="Google Shape;170;p26"/>
          <p:cNvSpPr txBox="1"/>
          <p:nvPr/>
        </p:nvSpPr>
        <p:spPr>
          <a:xfrm>
            <a:off x="2499538" y="715725"/>
            <a:ext cx="876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Books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5955063" y="631425"/>
            <a:ext cx="918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Reader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26" title="books_wirefr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513" y="1258900"/>
            <a:ext cx="2930385" cy="36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 title="reader_wire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160" y="1258900"/>
            <a:ext cx="3100432" cy="36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87900" y="2468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Wireframes (with element ID)</a:t>
            </a:r>
            <a:endParaRPr b="1"/>
          </a:p>
        </p:txBody>
      </p:sp>
      <p:sp>
        <p:nvSpPr>
          <p:cNvPr id="179" name="Google Shape;179;p27"/>
          <p:cNvSpPr txBox="1"/>
          <p:nvPr/>
        </p:nvSpPr>
        <p:spPr>
          <a:xfrm>
            <a:off x="2254151" y="715725"/>
            <a:ext cx="1367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Bookmarks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5874225" y="673575"/>
            <a:ext cx="1080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Settings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7" title="bookmarks_wirefr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975" y="1280025"/>
            <a:ext cx="3087446" cy="365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 title="settings_wire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421" y="1280025"/>
            <a:ext cx="3285906" cy="36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UI Design Decisions </a:t>
            </a:r>
            <a:endParaRPr b="1"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87900" y="1144125"/>
            <a:ext cx="8368200" cy="3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Design choices made:</a:t>
            </a:r>
            <a:endParaRPr b="1">
              <a:solidFill>
                <a:schemeClr val="accent5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Color Scheme  	 </a:t>
            </a:r>
            <a:r>
              <a:rPr lang="en"/>
              <a:t>→  Amber / Gold primary (#D97706)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               		   	 </a:t>
            </a:r>
            <a:r>
              <a:rPr lang="en"/>
              <a:t>→  Stone / Warm neutral background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Typography      	 </a:t>
            </a:r>
            <a:r>
              <a:rPr lang="en"/>
              <a:t>→  Material Design 3 type scale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Icons          	   	</a:t>
            </a:r>
            <a:r>
              <a:rPr lang="en"/>
              <a:t> →  Material Icons Extended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Theme Support  	 </a:t>
            </a:r>
            <a:r>
              <a:rPr lang="en"/>
              <a:t>→  Light | Dark | Sepia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Font Control  	 </a:t>
            </a:r>
            <a:r>
              <a:rPr lang="en"/>
              <a:t>→  S | M | L | XL adjustable by user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Bottom Nav     	 </a:t>
            </a:r>
            <a:r>
              <a:rPr lang="en"/>
              <a:t>→  5 tabs always visible (NAV-01 to NAV-05)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190" name="Google Shape;1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387900" y="2468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 UI Design</a:t>
            </a:r>
            <a:endParaRPr b="1"/>
          </a:p>
        </p:txBody>
      </p:sp>
      <p:sp>
        <p:nvSpPr>
          <p:cNvPr id="196" name="Google Shape;196;p29"/>
          <p:cNvSpPr txBox="1"/>
          <p:nvPr/>
        </p:nvSpPr>
        <p:spPr>
          <a:xfrm>
            <a:off x="4524438" y="709400"/>
            <a:ext cx="917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29" title="Screenshot 2026-05-24 1923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375" y="1127600"/>
            <a:ext cx="1820649" cy="39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 title="Screenshot 2026-05-24 1923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050" y="1127600"/>
            <a:ext cx="1782187" cy="3905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/>
        </p:nvSpPr>
        <p:spPr>
          <a:xfrm>
            <a:off x="2479000" y="709400"/>
            <a:ext cx="917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29" title="Screenshot 2026-05-24 1923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1625" y="1127600"/>
            <a:ext cx="1734925" cy="38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6670375" y="709400"/>
            <a:ext cx="917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Books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87900" y="2468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 UI Design</a:t>
            </a:r>
            <a:endParaRPr b="1"/>
          </a:p>
        </p:txBody>
      </p:sp>
      <p:sp>
        <p:nvSpPr>
          <p:cNvPr id="207" name="Google Shape;207;p30"/>
          <p:cNvSpPr txBox="1"/>
          <p:nvPr/>
        </p:nvSpPr>
        <p:spPr>
          <a:xfrm>
            <a:off x="4435652" y="709400"/>
            <a:ext cx="1095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Settings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2238550" y="709400"/>
            <a:ext cx="1398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Bookmarks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6670375" y="709400"/>
            <a:ext cx="917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Reader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30" title="Screenshot 2026-05-24 1924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76" y="1127600"/>
            <a:ext cx="1668260" cy="370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 title="Screenshot 2026-05-24 19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1863" y="1127600"/>
            <a:ext cx="1722575" cy="37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0" title="Screenshot 2026-05-26 20352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7788" y="1106475"/>
            <a:ext cx="1722576" cy="374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UI Design Decisions </a:t>
            </a:r>
            <a:endParaRPr b="1"/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387900" y="1144125"/>
            <a:ext cx="8368200" cy="3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How data moves in the app:</a:t>
            </a:r>
            <a:endParaRPr b="1">
              <a:solidFill>
                <a:schemeClr val="accent5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taps verse  -&gt;  </a:t>
            </a:r>
            <a:r>
              <a:rPr lang="en"/>
              <a:t>ReaderScreen.kt (UI)  -&gt; 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BibleViewModel.kt (adds bookmark/highlight)  </a:t>
            </a:r>
            <a:r>
              <a:rPr lang="en"/>
              <a:t>-&gt; 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BibleRepository.kt (saves to DataStore)  </a:t>
            </a:r>
            <a:r>
              <a:rPr lang="en"/>
              <a:t>-&gt; 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Persisted locally on device  </a:t>
            </a:r>
            <a:r>
              <a:rPr lang="en"/>
              <a:t>-&gt; 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Next app launch  </a:t>
            </a:r>
            <a:r>
              <a:rPr lang="en"/>
              <a:t>-&gt;  </a:t>
            </a:r>
            <a:r>
              <a:rPr lang="en"/>
              <a:t>DataStore loads saved data back</a:t>
            </a:r>
            <a:endParaRPr/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220" name="Google Shape;22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UI Design Decisions </a:t>
            </a:r>
            <a:endParaRPr b="1"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87900" y="1144125"/>
            <a:ext cx="8368200" cy="3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Navigation uses typed routes:</a:t>
            </a:r>
            <a:endParaRPr b="1">
              <a:solidFill>
                <a:schemeClr val="accent5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Home</a:t>
            </a:r>
            <a:r>
              <a:rPr lang="en">
                <a:solidFill>
                  <a:schemeClr val="accent5"/>
                </a:solidFill>
              </a:rPr>
              <a:t>         	</a:t>
            </a:r>
            <a:r>
              <a:rPr lang="en"/>
              <a:t>→  /home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Books </a:t>
            </a:r>
            <a:r>
              <a:rPr lang="en">
                <a:solidFill>
                  <a:schemeClr val="accent5"/>
                </a:solidFill>
              </a:rPr>
              <a:t>      </a:t>
            </a:r>
            <a:r>
              <a:rPr lang="en"/>
              <a:t> 	→  /books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Chapters </a:t>
            </a:r>
            <a:r>
              <a:rPr lang="en">
                <a:solidFill>
                  <a:schemeClr val="accent5"/>
                </a:solidFill>
              </a:rPr>
              <a:t>    	</a:t>
            </a:r>
            <a:r>
              <a:rPr lang="en"/>
              <a:t>→  /chapters/{bookId}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Reader </a:t>
            </a:r>
            <a:r>
              <a:rPr lang="en">
                <a:solidFill>
                  <a:schemeClr val="accent5"/>
                </a:solidFill>
              </a:rPr>
              <a:t>     	</a:t>
            </a:r>
            <a:r>
              <a:rPr lang="en"/>
              <a:t>→  /reader/{bookId}/{chapter}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Search </a:t>
            </a:r>
            <a:r>
              <a:rPr lang="en">
                <a:solidFill>
                  <a:schemeClr val="accent5"/>
                </a:solidFill>
              </a:rPr>
              <a:t>      	</a:t>
            </a:r>
            <a:r>
              <a:rPr lang="en"/>
              <a:t>→  /search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Saved </a:t>
            </a:r>
            <a:r>
              <a:rPr lang="en">
                <a:solidFill>
                  <a:schemeClr val="accent5"/>
                </a:solidFill>
              </a:rPr>
              <a:t>       	</a:t>
            </a:r>
            <a:r>
              <a:rPr lang="en"/>
              <a:t>→  /bookmarks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Settings</a:t>
            </a:r>
            <a:r>
              <a:rPr lang="en">
                <a:solidFill>
                  <a:schemeClr val="accent5"/>
                </a:solidFill>
              </a:rPr>
              <a:t>     	</a:t>
            </a:r>
            <a:r>
              <a:rPr lang="en"/>
              <a:t>→  /settings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725" y="3959575"/>
            <a:ext cx="1377799" cy="1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ible with a gold cross on it (Provided by Tenor)" id="228" name="Google Shape;2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450" y="86700"/>
            <a:ext cx="12763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4855850" y="1818600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234" name="Google Shape;234;p33"/>
          <p:cNvSpPr txBox="1"/>
          <p:nvPr>
            <p:ph idx="2" type="body"/>
          </p:nvPr>
        </p:nvSpPr>
        <p:spPr>
          <a:xfrm>
            <a:off x="475375" y="180000"/>
            <a:ext cx="3837000" cy="47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What is not yet fully implemented: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Full Bible text</a:t>
            </a:r>
            <a:r>
              <a:rPr lang="en"/>
              <a:t> — </a:t>
            </a:r>
            <a:r>
              <a:rPr lang="en" sz="1600"/>
              <a:t>only key chapters included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→ Full text to be added in BibleData.kt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Multi-translation data</a:t>
            </a:r>
            <a:r>
              <a:rPr lang="en"/>
              <a:t> — </a:t>
            </a:r>
            <a:r>
              <a:rPr lang="en" sz="1600"/>
              <a:t>UI only for now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→ KJV/NIV/ESV/NLT selector works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→ Actual verse data per translation not yet loaded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accent5"/>
                </a:solidFill>
              </a:rPr>
              <a:t>Android only</a:t>
            </a:r>
            <a:r>
              <a:rPr lang="en"/>
              <a:t> — </a:t>
            </a:r>
            <a:r>
              <a:rPr lang="en" sz="1600"/>
              <a:t>no iOS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→ Future: Flutter or React Native for cross-platform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idx="2" type="body"/>
          </p:nvPr>
        </p:nvSpPr>
        <p:spPr>
          <a:xfrm>
            <a:off x="4939500" y="516300"/>
            <a:ext cx="3837000" cy="41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Full Bible text — all 66 books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Real translation data (NIV, ESV, NLT)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Audio Bible playback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Daily reading plan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Cloud sync for bookmarks and notes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iOS support via Flutter or React Native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Offline Bible lands maps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/>
              <a:t>Share verse as image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0" name="Google Shape;240;p34"/>
          <p:cNvSpPr txBox="1"/>
          <p:nvPr>
            <p:ph type="title"/>
          </p:nvPr>
        </p:nvSpPr>
        <p:spPr>
          <a:xfrm>
            <a:off x="24900" y="1818600"/>
            <a:ext cx="45471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5"/>
          <p:cNvSpPr txBox="1"/>
          <p:nvPr>
            <p:ph idx="4294967295" type="title"/>
          </p:nvPr>
        </p:nvSpPr>
        <p:spPr>
          <a:xfrm>
            <a:off x="311700" y="92812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accent1"/>
                </a:solidFill>
              </a:rPr>
              <a:t>Conclusion</a:t>
            </a:r>
            <a:endParaRPr b="1" sz="3800">
              <a:solidFill>
                <a:schemeClr val="accent1"/>
              </a:solidFill>
            </a:endParaRPr>
          </a:p>
        </p:txBody>
      </p:sp>
      <p:sp>
        <p:nvSpPr>
          <p:cNvPr id="247" name="Google Shape;247;p35"/>
          <p:cNvSpPr txBox="1"/>
          <p:nvPr>
            <p:ph idx="4294967295" type="body"/>
          </p:nvPr>
        </p:nvSpPr>
        <p:spPr>
          <a:xfrm>
            <a:off x="311700" y="2484600"/>
            <a:ext cx="8520600" cy="26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Mobile Bible App</a:t>
            </a:r>
            <a:endParaRPr sz="2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Built with Kotlin + Jetpack Compose</a:t>
            </a:r>
            <a:endParaRPr sz="2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Android | Personal Use | Offline</a:t>
            </a:r>
            <a:endParaRPr sz="2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accent5"/>
                </a:solidFill>
              </a:rPr>
              <a:t>"Read. Highlight. Save. Reflect."</a:t>
            </a:r>
            <a:endParaRPr b="1" i="1" sz="24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